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371600"/>
            <a:ext cx="8979408" cy="23774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Energy Price Forecasting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Energy · Project Plan &amp; Status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4622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Gas  ·  German Power  ·  EU Emissions (EUA)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Horizons: h = 1, 3, 5 trading days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|        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daily European energy prices during the 2021–2024 crisis period using ML and econometric models.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Energy — industry collaboration treated as a professional consulting engagement.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models, reproducible code, error analysis, written report and presentation to K2.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duration: 3–5 months · Fully remote · Small group format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Targets &amp;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Natural Gas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Title Transfer Facility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European gas benchmark. Drivers: temperature, storage, oil, coal, EUA, power.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Power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baseload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continental power benchmark. Drivers: load, wind, solar, gas, coal, EUA.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42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Allowances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316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certificates (EUA)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market. Drivers: oil, coal, gas, electricity, temperature, hydro, overallocation.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4041648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 trading day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041648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 trading days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4041648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5 trading days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confirmed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prices: TTF, German power, EUA (2021–2024)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curve &amp; related maturities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31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data &amp; implied volatilities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15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(Brent) &amp; coal (API2) prices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Cross-commodity vol proxies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indicators &amp; risk premia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dummies: Ukraine war, ETS phases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51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verification calendar dummies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4023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Action required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storage differential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 / AGSI+  ·  API key obtained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011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load forecast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2240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 ·  API token pending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542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&amp; solar generation forecast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83480" y="2770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 ·  API token pending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Degree Days (HDD)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8348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ECA&amp;D  ·  in design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602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 reservoir capacity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3831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Nordpool  ·  in design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133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Post-Jan 2025 OOS data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83480" y="4361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Energy  ·  to be provided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8813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14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344168"/>
            <a:ext cx="1280160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441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06984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formed, targets &amp; horizons confirmed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(9 core papers)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data received (2021–2024)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051560"/>
            <a:ext cx="0" cy="5303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89280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8196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Assembly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148840"/>
            <a:ext cx="1280160" cy="219456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148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1874520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prices cleaned &amp; aligned ✓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AGSI+ API key obtained ✓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API token requested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&amp; hydro constructs in design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1856232"/>
            <a:ext cx="0" cy="5303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69748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624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2953512"/>
            <a:ext cx="128016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53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23160" y="267919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ARX / VARX models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(XGBoost, LASSO, NN)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/ regime components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evaluation &amp; lock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31720" y="2660904"/>
            <a:ext cx="0" cy="5303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50215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429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Test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3758184"/>
            <a:ext cx="1280160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7581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K2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23160" y="3483864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post-Jan 2025 data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at h = 1, 3, 5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error analysis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under crisis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31720" y="3465576"/>
            <a:ext cx="0" cy="5303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4306824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4400" y="4562856"/>
            <a:ext cx="128016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562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23160" y="4288536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codebase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report 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 K2 Energy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331720" y="4270248"/>
            <a:ext cx="0" cy="530352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/ VARX with direct multi-horizon estimation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1671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target per horizon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82549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driver blocks: demand, supply, intermarket, 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Random Forest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1671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&amp; Ridge regularisation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82549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candidates (LSTM / CNN-LSTM)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&amp; regime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5087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 / TGARCH for EUA &amp; gas vol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216712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Regime-switching for power spikes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282549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CO₂ pass-through terms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0D1B2A">
              <a:alpha val="10000"/>
            </a:srgbClr>
          </a:solidFill>
          <a:ln w="12700">
            <a:solidFill>
              <a:srgbClr val="0D1B2A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89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4407408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44074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86200" y="4407408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44074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4407408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44074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69480" y="4407408"/>
            <a:ext cx="1508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44074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Diebold-Mariano significance tests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priorities to unblock model development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458200" cy="74980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6362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ENTSO-E API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transparency@entsoe.eu · token arrives in 1–2 days · pull load, wind/solar via entsoe-py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18488"/>
            <a:ext cx="1417320" cy="32918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18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95144"/>
            <a:ext cx="8458200" cy="74980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4144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368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AGSI+ gas storage pull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2660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already obtained · run data_pull.py · construct storage-deviation feature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496312"/>
            <a:ext cx="1417320" cy="32918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963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172968"/>
            <a:ext cx="8458200" cy="74980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31927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9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&amp; hydro construct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538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ECA&amp;D temperature data · build population-weighted HDD series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3374136"/>
            <a:ext cx="1417320" cy="32918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3741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050792"/>
            <a:ext cx="8458200" cy="749808"/>
          </a:xfrm>
          <a:prstGeom prst="rect">
            <a:avLst/>
          </a:prstGeom>
          <a:solidFill>
            <a:srgbClr val="112233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9709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5568" y="4123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EUA baseline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" y="4416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external dependencies · start ARX with oil, coal, gas, power, temp lags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251960"/>
            <a:ext cx="1417320" cy="32918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2519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64008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FFFFFF"/>
                </a:solidFill>
              </a:rPr>
              <a:t>Literature Review: Core Papers We Are Using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28600"/>
            <a:ext cx="841248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>
                <a:solidFill>
                  <a:srgbClr val="B4DCDC"/>
                </a:solidFill>
              </a:rPr>
              <a:t>Selected papers directly motivating features, model classes and target-specific differences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530352"/>
            <a:ext cx="2871216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530352"/>
            <a:ext cx="2871216" cy="164592"/>
          </a:xfrm>
          <a:prstGeom prst="rect">
            <a:avLst/>
          </a:prstGeom>
          <a:solidFill>
            <a:srgbClr val="19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544068"/>
            <a:ext cx="276148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TTF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749808"/>
            <a:ext cx="2706624" cy="305409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Hulshof et al. (2016): TTF day-ahead mainly weather + storage; oil small, coal weak.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Mouchtaris et al. (2021): short-horizon gas forecasting; bagged trees and linear SVM perform best.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Vertregt (2023): TTF gas benefits from VMD + ICA preprocessing and volatility-regime splits before GRU / SVR.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Berrisch &amp; Ziel (2022): heavy tails and heteroskedasticity motivate skewed state-space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530352"/>
            <a:ext cx="2871216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530352"/>
            <a:ext cx="2871216" cy="164592"/>
          </a:xfrm>
          <a:prstGeom prst="rect">
            <a:avLst/>
          </a:prstGeom>
          <a:solidFill>
            <a:srgbClr val="2D6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544068"/>
            <a:ext cx="276148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German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749808"/>
            <a:ext cx="2706624" cy="305409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Lehna et al. (2022): compares (S)ARIMA(X), two-stage VAR, LSTM and CNN-LSTM; LSTM strongest on average, VAR competitive short-term.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Nitsch et al. (2024): N-BEATS and TFT perform well when future covariates such as residual load are available.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Zachmann &amp; von Hirschhausen (2008): CO₂ cost pass-through into German power is asymmetric.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Green et al. (2018): gas, coal and carbon generate time-varying volatility spillovers into German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30352"/>
            <a:ext cx="2871216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530352"/>
            <a:ext cx="2871216" cy="164592"/>
          </a:xfrm>
          <a:prstGeom prst="rect">
            <a:avLst/>
          </a:prstGeom>
          <a:solidFill>
            <a:srgbClr val="7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544068"/>
            <a:ext cx="276148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EUA carbon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749808"/>
            <a:ext cx="2706624" cy="3054096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Koop &amp; Tole (2011): DMA is useful when carbon drivers and coefficients change over time.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Lutz et al. (2013): EUA fundamentals are nonlinear; low/high volatility regimes can be identified.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Byun &amp; Cho (2013): carbon futures volatility is forecast well by GARCH-type models and linked to energy-market volatilities.</a:t>
            </a:r>
          </a:p>
          <a:p>
            <a:pPr>
              <a:spcAft>
                <a:spcPts val="100"/>
              </a:spcAft>
              <a:defRPr sz="770">
                <a:solidFill>
                  <a:srgbClr val="282F3A"/>
                </a:solidFill>
              </a:defRPr>
            </a:pPr>
            <a:r>
              <a:t>Implication: carbon should be the most regime-sensitive target in the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" y="3913632"/>
            <a:ext cx="8741664" cy="502920"/>
          </a:xfrm>
          <a:prstGeom prst="roundRect">
            <a:avLst/>
          </a:prstGeom>
          <a:solidFill>
            <a:srgbClr val="E6F6F3"/>
          </a:solidFill>
          <a:ln>
            <a:solidFill>
              <a:srgbClr val="AA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005072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00">
                <a:solidFill>
                  <a:srgbClr val="067875"/>
                </a:solidFill>
              </a:rPr>
              <a:t>Method backbone:</a:t>
            </a:r>
            <a:r>
              <a:rPr sz="800">
                <a:solidFill>
                  <a:srgbClr val="282F3A"/>
                </a:solidFill>
              </a:rPr>
              <a:t> Tsay provides ARIMA, GARCH, VAR, state-space and regime-switching tools; Stock &amp; Watson provide forecasting workflow, ARDL / VAR, break diagnostics and regularised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64008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FFFFFF"/>
                </a:solidFill>
              </a:rPr>
              <a:t>Project Structure: Common Base Layer + Target-Specific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28600"/>
            <a:ext cx="841248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>
                <a:solidFill>
                  <a:srgbClr val="B4DCDC"/>
                </a:solidFill>
              </a:rPr>
              <a:t>One unified pipeline for all three markets, then specialist models where the literature says they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512064"/>
            <a:ext cx="874166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512064"/>
            <a:ext cx="1554480" cy="530352"/>
          </a:xfrm>
          <a:prstGeom prst="rect">
            <a:avLst/>
          </a:prstGeom>
          <a:solidFill>
            <a:srgbClr val="0D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2179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Common data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566928"/>
            <a:ext cx="6903720" cy="411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Daily aligned panel 2021–2024</a:t>
            </a:r>
          </a:p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Lags / rolling windows</a:t>
            </a:r>
          </a:p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AR, supply-demand, weather, intermarket, vol-financial, regime dummies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1170432"/>
            <a:ext cx="874166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170432"/>
            <a:ext cx="1554480" cy="530352"/>
          </a:xfrm>
          <a:prstGeom prst="rect">
            <a:avLst/>
          </a:prstGeom>
          <a:solidFill>
            <a:srgbClr val="0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280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Common benchmark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1225296"/>
            <a:ext cx="6903720" cy="411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Direct multi-horizon ARX / VARX</a:t>
            </a:r>
          </a:p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Shared train / validation / test logic</a:t>
            </a:r>
          </a:p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RMSE, MAE, CRPS, Diebold-Mariano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1828800"/>
            <a:ext cx="874166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828800"/>
            <a:ext cx="1554480" cy="530352"/>
          </a:xfrm>
          <a:prstGeom prst="rect">
            <a:avLst/>
          </a:prstGeom>
          <a:solidFill>
            <a:srgbClr val="505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193852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Target-specific 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1883664"/>
            <a:ext cx="6903720" cy="411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40">
                <a:solidFill>
                  <a:srgbClr val="282F3A"/>
                </a:solidFill>
              </a:defRPr>
            </a:pPr>
            <a:r>
              <a:t>Gas, power and carbon receive tailored heads only after benchmark stability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" y="2596896"/>
            <a:ext cx="28346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2596896"/>
            <a:ext cx="2834640" cy="164592"/>
          </a:xfrm>
          <a:prstGeom prst="rect">
            <a:avLst/>
          </a:prstGeom>
          <a:solidFill>
            <a:srgbClr val="19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610612"/>
            <a:ext cx="272491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Gas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" y="2816352"/>
            <a:ext cx="2688336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Base: fundamental ARX / state-space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Drivers: storage, temp, TTF curve, NBP / power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Upgrade: regime-aware / decomposition hybrid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596896"/>
            <a:ext cx="28346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2596896"/>
            <a:ext cx="2834640" cy="164592"/>
          </a:xfrm>
          <a:prstGeom prst="rect">
            <a:avLst/>
          </a:prstGeom>
          <a:solidFill>
            <a:srgbClr val="2D6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2610612"/>
            <a:ext cx="272491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Power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2816352"/>
            <a:ext cx="2688336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Base: exogenous-rich day-ahead benchmark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Drivers: load, wind, solar, gas, coal, EUA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Upgrade: two-stage VAR or LSTM / ensemble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2596896"/>
            <a:ext cx="28346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596896"/>
            <a:ext cx="2834640" cy="164592"/>
          </a:xfrm>
          <a:prstGeom prst="rect">
            <a:avLst/>
          </a:prstGeom>
          <a:solidFill>
            <a:srgbClr val="7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2610612"/>
            <a:ext cx="272491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Carbon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2816352"/>
            <a:ext cx="2688336" cy="9144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Base: energy-complex ARX + regime dummies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Drivers: gas, coal, power, macro proxies, policy dates</a:t>
            </a:r>
          </a:p>
          <a:p>
            <a:pPr>
              <a:spcAft>
                <a:spcPts val="100"/>
              </a:spcAft>
              <a:defRPr sz="720">
                <a:solidFill>
                  <a:srgbClr val="282F3A"/>
                </a:solidFill>
              </a:defRPr>
            </a:pPr>
            <a:r>
              <a:t>Upgrade: DMA or Markov-switching + GARCH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04487"/>
            <a:ext cx="8412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26B78"/>
                </a:solidFill>
              </a:rPr>
              <a:t>Interpretation strategy: same base layer for comparability, different heads only where the literature indicates different data-generating processes.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7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64008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FFFFFF"/>
                </a:solidFill>
              </a:rPr>
              <a:t>Which Papers Map to Which Model Choices?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28600"/>
            <a:ext cx="841248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>
                <a:solidFill>
                  <a:srgbClr val="B4DCDC"/>
                </a:solidFill>
              </a:rPr>
              <a:t>The presentation now makes explicit which papers justify the benchmark, feature set and advanced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502920"/>
            <a:ext cx="1508760" cy="274320"/>
          </a:xfrm>
          <a:prstGeom prst="rect">
            <a:avLst/>
          </a:prstGeom>
          <a:solidFill>
            <a:srgbClr val="071C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30352"/>
            <a:ext cx="1417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502920"/>
            <a:ext cx="2286000" cy="274320"/>
          </a:xfrm>
          <a:prstGeom prst="rect">
            <a:avLst/>
          </a:prstGeom>
          <a:solidFill>
            <a:srgbClr val="071C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530352"/>
            <a:ext cx="2194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 b="1">
                <a:solidFill>
                  <a:srgbClr val="FFFFFF"/>
                </a:solidFill>
              </a:rPr>
              <a:t>Why it is in the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928" y="502920"/>
            <a:ext cx="2148840" cy="274320"/>
          </a:xfrm>
          <a:prstGeom prst="rect">
            <a:avLst/>
          </a:prstGeom>
          <a:solidFill>
            <a:srgbClr val="071C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530352"/>
            <a:ext cx="2057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 b="1">
                <a:solidFill>
                  <a:srgbClr val="FFFFFF"/>
                </a:solidFill>
              </a:rPr>
              <a:t>Main paper(s)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502920"/>
            <a:ext cx="2999232" cy="274320"/>
          </a:xfrm>
          <a:prstGeom prst="rect">
            <a:avLst/>
          </a:prstGeom>
          <a:solidFill>
            <a:srgbClr val="071C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530352"/>
            <a:ext cx="29077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" b="1">
                <a:solidFill>
                  <a:srgbClr val="FFFFFF"/>
                </a:solidFill>
              </a:rPr>
              <a:t>Implication for implementation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77724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" y="813816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1">
                <a:solidFill>
                  <a:srgbClr val="282F3A"/>
                </a:solidFill>
              </a:rPr>
              <a:t>Common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9928" y="777240"/>
            <a:ext cx="2286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55648" y="813816"/>
            <a:ext cx="2194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Comparable baseline across all targets and horizons.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5928" y="777240"/>
            <a:ext cx="2148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1648" y="813816"/>
            <a:ext cx="2057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Stock &amp; Watson; Tsay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777240"/>
            <a:ext cx="2999232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813816"/>
            <a:ext cx="29077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Start with direct multi-horizon ARX / VARX before specialist models.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600200"/>
            <a:ext cx="1508760" cy="822960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" y="1636776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1">
                <a:solidFill>
                  <a:srgbClr val="282F3A"/>
                </a:solidFill>
              </a:rPr>
              <a:t>Gas features +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9928" y="1600200"/>
            <a:ext cx="2286000" cy="822960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5648" y="1636776"/>
            <a:ext cx="2194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Gas papers emphasise weather, storage and short-horizon ML / regime effects.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95928" y="1600200"/>
            <a:ext cx="2148840" cy="822960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1636776"/>
            <a:ext cx="2057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Hulshof; Mouchtaris; Vertregt; Berrisch &amp; Ziel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1600200"/>
            <a:ext cx="2999232" cy="822960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636776"/>
            <a:ext cx="29077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Use storage / temperature / intermarket features and keep a gas specialist extension.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2423160"/>
            <a:ext cx="15087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2459736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1">
                <a:solidFill>
                  <a:srgbClr val="282F3A"/>
                </a:solidFill>
              </a:rPr>
              <a:t>Power features +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09928" y="2423160"/>
            <a:ext cx="2286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55648" y="2459736"/>
            <a:ext cx="2194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Power papers emphasise exogenous drivers and show model combinations can outperform single methods.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95928" y="2423160"/>
            <a:ext cx="2148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2459736"/>
            <a:ext cx="2057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Lehna; Nitsch; Zachmann; Green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2423160"/>
            <a:ext cx="2999232" cy="822960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2459736"/>
            <a:ext cx="29077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Use load, wind, solar, gas and EUA in the benchmark; keep two-stage VAR / LSTM as upgrade path.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3246120"/>
            <a:ext cx="1508760" cy="749808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" y="3282696"/>
            <a:ext cx="1417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 b="1">
                <a:solidFill>
                  <a:srgbClr val="282F3A"/>
                </a:solidFill>
              </a:rPr>
              <a:t>Carbon features + 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09928" y="3246120"/>
            <a:ext cx="2286000" cy="749808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55648" y="3282696"/>
            <a:ext cx="21945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Carbon papers show changing drivers, policy sensitivity and volatility clustering.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95928" y="3246120"/>
            <a:ext cx="2148840" cy="749808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41648" y="3282696"/>
            <a:ext cx="2057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Koop &amp; Tole; Lutz; Byun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4768" y="3246120"/>
            <a:ext cx="2999232" cy="749808"/>
          </a:xfrm>
          <a:prstGeom prst="rect">
            <a:avLst/>
          </a:prstGeom>
          <a:solidFill>
            <a:srgbClr val="FAFAFB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3282696"/>
            <a:ext cx="29077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282F3A"/>
                </a:solidFill>
              </a:rPr>
              <a:t>Treat carbon as the most regime-sensitive target and reserve DMA / Markov-switching / GARCH for the specialist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K2 Energy — European Energy Price Forecasting</dc:title>
  <dc:subject>PptxGenJS Presentation</dc:subject>
  <dc:creator>PptxGenJS</dc:creator>
  <cp:lastModifiedBy>PptxGenJS</cp:lastModifiedBy>
  <cp:revision>1</cp:revision>
  <dcterms:created xsi:type="dcterms:W3CDTF">2026-03-28T23:55:50Z</dcterms:created>
  <dcterms:modified xsi:type="dcterms:W3CDTF">2026-03-28T23:55:50Z</dcterms:modified>
</cp:coreProperties>
</file>